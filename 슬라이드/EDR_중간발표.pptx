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ln w="19050">
            <a:solidFill>
              <a:srgbClr val="2A3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1097280"/>
            <a:ext cx="4114800" cy="4114800"/>
          </a:xfrm>
          <a:prstGeom prst="ellipse">
            <a:avLst/>
          </a:prstGeom>
          <a:ln w="12700">
            <a:solidFill>
              <a:srgbClr val="2A3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ln w="19050">
            <a:solidFill>
              <a:srgbClr val="2A3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SIHEUNG BOOTCAMP  ·  TEAM I  ·  중간 발표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기반 EDR 보안 서비스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이상행동 탐지부터 Slack 알림, 대시보드 시각화까지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OSquery · Zeek  →  Kafka  →  Kafka Streams · ClickHouse  →  Spring Boot  →  Slack · React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서비스 설명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 &amp; 문제 정의 — 왜 만드는가?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DF0F0"/>
          </a:solidFill>
          <a:ln w="12700">
            <a:solidFill>
              <a:srgbClr val="F3D2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백신 (안티바이러스)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알려진 유명 바이러스, 악성 파일만 잡음</a:t>
            </a:r>
            <a:endParaRPr lang="en-US" sz="13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공격·알려지지 않은 이상 행동에는 대응 불가</a:t>
            </a:r>
            <a:endParaRPr lang="en-US" sz="13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 : 감기약 보유 여부로 감기를 판단 — 알려진 병만 진단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EDF7F1"/>
          </a:solidFill>
          <a:ln w="12700">
            <a:solidFill>
              <a:srgbClr val="CBE7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EDR (Endpoint Detection &amp; Response)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“행동의 특이점”을 발견하여 보안 실행</a:t>
            </a:r>
            <a:endParaRPr lang="en-US" sz="13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보는 공격도 이상 징후로 탐지 가능</a:t>
            </a:r>
            <a:endParaRPr lang="en-US" sz="13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 : 증상으로 판단 — 처음 보는 병도 진단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110996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만드는 것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166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EDR 방식의 보안 프로그램을 직접 제작 — 기존 백신 대비 효과적인 사전 예방 중심 보안</a:t>
            </a:r>
            <a:endParaRPr lang="en-US" sz="13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RAM · CPU · 네트워크 · 파일 · DNS 등에서의 이상 행동을 탐지하고 사용자에게 안내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서비스 소개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 &amp; 차별점 — 무엇이 다른가?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활동의 특성을 감지해 이상 현상을 찾고 조치를 제시 — 대시보드 표시를 넘어 풍부한 부가기능 탑재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3969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259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210312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점수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578608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시스템의 보안 상태를 점수로 한눈에 표시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06824" y="192024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213969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21259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0056" y="210312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해결책 제시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35424" y="2578608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탐지된 이상 현상에 대한 조치 방법 안내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65008" y="192024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13969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21259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8240" y="210312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간략화 팝업 표기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93608" y="2578608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로그 대신 이해하기 쉬운 요약 알림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83133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176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61872" y="379476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바이러스 역추적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4270248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행동의 발생 경로를 거슬러 추적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06824" y="361188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383133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35424" y="38176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0056" y="379476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연동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35424" y="4270248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행동 감지 시 사용자에게 즉시 전달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65008" y="3611880"/>
            <a:ext cx="3593592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3608" y="379476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AI 학습 기반 탐지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93608" y="420624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평소 행동 양식과 컴퓨터의 평소 상태를 학습·분석 → 이상 행동 탐지에 용이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EDR이 ‘분석 자료 표시’에 그친다면, 우리는 점수화 · AI 조치 · 즉시 알림까지 한 번에 제공합니다.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서비스 소개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기능명세서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5532120"/>
                <a:gridCol w="21031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기술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로그 수집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내부(RAM·CPU·파일·프로세스) 및 네트워크(DNS 등) 행동 수집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3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OSquery, Zeek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 전달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수집된 로그를 실시간으로 메시지 큐에 전달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3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Kafka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이상 탐지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저장 전 길목(메모리)에서 위협 패턴 실시간 검사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3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Kafka Streams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윈도우 연산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“최근 5초 동안 50번 이상 실패했는가?” 같은 시간 단위 집계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3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Kafka Streams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56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대용량 로그 저장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원본 로그를 열(칼럼) 단위로 저장, 빠른 통계·집계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3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ClickHouse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8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Slack 실시간 알림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위협 판정 시 Slack 채널로 즉시 메시지 발송 (이메일 포함)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3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Spring Boot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대시보드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추이 그래프, 로그 조회 화면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3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React + Spring Boot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 점수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보안 상태를 점수화하여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3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해결책 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탐지된 이상 현상에 대한 조치 방법 안내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3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바이러스 역추적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B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행동의 발생 경로 추적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A3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완성 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UI — 기존 EDR 서비스 레퍼런스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93592" cy="2103120"/>
          </a:xfrm>
          <a:prstGeom prst="roundRect">
            <a:avLst>
              <a:gd name="adj" fmla="val 2609"/>
            </a:avLst>
          </a:prstGeom>
          <a:solidFill>
            <a:srgbClr val="E4EBF8"/>
          </a:solidFill>
          <a:ln w="12700">
            <a:solidFill>
              <a:srgbClr val="C6D4E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35935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9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화면 캡처 자리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3593592" cy="18288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408736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0736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05079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대시보드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57200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점수 · 전체 상태 요약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이벤트 추이 그래프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탐지된 이상 행동 목록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06824" y="1600200"/>
            <a:ext cx="3593592" cy="2103120"/>
          </a:xfrm>
          <a:prstGeom prst="roundRect">
            <a:avLst>
              <a:gd name="adj" fmla="val 2609"/>
            </a:avLst>
          </a:prstGeom>
          <a:solidFill>
            <a:srgbClr val="E4EBF8"/>
          </a:solidFill>
          <a:ln w="12700">
            <a:solidFill>
              <a:srgbClr val="C6D4E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306824" y="1600200"/>
            <a:ext cx="35935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9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화면 캡처 자리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6824" y="3886200"/>
            <a:ext cx="3593592" cy="18288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35424" y="408736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535424" y="40736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0056" y="405079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상세 화면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35424" y="457200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시각 · 호스트 · 위협 유형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간략화된 요약 팝업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조치 방법 제시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65008" y="1600200"/>
            <a:ext cx="3593592" cy="2103120"/>
          </a:xfrm>
          <a:prstGeom prst="roundRect">
            <a:avLst>
              <a:gd name="adj" fmla="val 2609"/>
            </a:avLst>
          </a:prstGeom>
          <a:solidFill>
            <a:srgbClr val="E4EBF8"/>
          </a:solidFill>
          <a:ln w="12700">
            <a:solidFill>
              <a:srgbClr val="C6D4EE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065008" y="1600200"/>
            <a:ext cx="35935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9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화면 캡처 자리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65008" y="3886200"/>
            <a:ext cx="3593592" cy="18288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3608" y="408736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93608" y="40736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0" y="405079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조회 화면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93608" y="4572000"/>
            <a:ext cx="3136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로그 검색·필터링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호스트별 / 시간별 조회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ClickHouse 기반 빠른 검색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포인트 — 기존 EDR 서비스의 화면 구성을 레퍼런스로 삼고, 여기에 보안 점수 · AI 해결책 · Slack 알림을 더한 UI를 목표로 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시스템 아키텍처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 &amp; 시스템 아키텍처 — 전체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14600"/>
            <a:ext cx="17830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OSquery / Zeek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로그 수집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80360" y="2514600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2A3A8C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events 토픽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3017520"/>
            <a:ext cx="548640" cy="0"/>
          </a:xfrm>
          <a:prstGeom prst="line">
            <a:avLst/>
          </a:prstGeom>
          <a:noFill/>
          <a:ln w="28575">
            <a:solidFill>
              <a:srgbClr val="2A3A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57800" y="14173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E5484D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1417320"/>
            <a:ext cx="19659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Streams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여과 · 위험 판별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2788920"/>
            <a:ext cx="731520" cy="-868680"/>
          </a:xfrm>
          <a:prstGeom prst="line">
            <a:avLst/>
          </a:prstGeom>
          <a:noFill/>
          <a:ln w="28575">
            <a:solidFill>
              <a:srgbClr val="2A3A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57800" y="37033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8256C8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3703320"/>
            <a:ext cx="19659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ClickHouse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원본 로그 저장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26280" y="3246120"/>
            <a:ext cx="731520" cy="868680"/>
          </a:xfrm>
          <a:prstGeom prst="line">
            <a:avLst/>
          </a:prstGeom>
          <a:noFill/>
          <a:ln w="28575">
            <a:solidFill>
              <a:srgbClr val="2A3A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36208" y="2331720"/>
            <a:ext cx="0" cy="1371600"/>
          </a:xfrm>
          <a:prstGeom prst="line">
            <a:avLst/>
          </a:prstGeom>
          <a:noFill/>
          <a:ln w="28575">
            <a:solidFill>
              <a:srgbClr val="9AA6C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35508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여과 데이터 저장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01000" y="251460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D8862B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0" y="2514600"/>
            <a:ext cx="17830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alerts 수신 · API 서버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874520"/>
            <a:ext cx="960120" cy="640080"/>
          </a:xfrm>
          <a:prstGeom prst="line">
            <a:avLst/>
          </a:prstGeom>
          <a:noFill/>
          <a:ln w="28575">
            <a:solidFill>
              <a:srgbClr val="2A3A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23760" y="4160520"/>
            <a:ext cx="960120" cy="-640080"/>
          </a:xfrm>
          <a:prstGeom prst="line">
            <a:avLst/>
          </a:prstGeom>
          <a:noFill/>
          <a:ln w="28575">
            <a:solidFill>
              <a:srgbClr val="2A3A8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378440" y="141732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2E9E6B"/>
          </a:solidFill>
          <a:ln/>
        </p:spPr>
      </p:sp>
      <p:sp>
        <p:nvSpPr>
          <p:cNvPr id="22" name="Text 20"/>
          <p:cNvSpPr/>
          <p:nvPr/>
        </p:nvSpPr>
        <p:spPr>
          <a:xfrm>
            <a:off x="10378440" y="1417320"/>
            <a:ext cx="12801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· 이메일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알림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378440" y="370332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2E9E6B"/>
          </a:solidFill>
          <a:ln/>
        </p:spPr>
      </p:sp>
      <p:sp>
        <p:nvSpPr>
          <p:cNvPr id="24" name="Text 22"/>
          <p:cNvSpPr/>
          <p:nvPr/>
        </p:nvSpPr>
        <p:spPr>
          <a:xfrm>
            <a:off x="10378440" y="3703320"/>
            <a:ext cx="12801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대시보드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784080" y="2788920"/>
            <a:ext cx="594360" cy="-868680"/>
          </a:xfrm>
          <a:prstGeom prst="line">
            <a:avLst/>
          </a:prstGeom>
          <a:noFill/>
          <a:ln w="28575">
            <a:solidFill>
              <a:srgbClr val="2A3A8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84080" y="3246120"/>
            <a:ext cx="594360" cy="868680"/>
          </a:xfrm>
          <a:prstGeom prst="line">
            <a:avLst/>
          </a:prstGeom>
          <a:noFill/>
          <a:ln w="28575">
            <a:solidFill>
              <a:srgbClr val="2A3A8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" y="4983480"/>
            <a:ext cx="11109960" cy="1554480"/>
          </a:xfrm>
          <a:prstGeom prst="roundRect">
            <a:avLst>
              <a:gd name="adj" fmla="val 4706"/>
            </a:avLst>
          </a:prstGeom>
          <a:solidFill>
            <a:srgbClr val="F5F8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513892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51252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52144" y="5120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13232" y="55321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OSquery·Zeek 로그를 Kafka로 입력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62072" y="513892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2862072" y="51252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00984" y="5120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862072" y="55321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Streams(위험 판별) · ClickHouse(저장)에 동시 전달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10912" y="513892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010912" y="51252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49824" y="5120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10912" y="55321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여과 데이터는 저장 + alerts 토픽으로 전송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59752" y="513892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7159752" y="51252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598664" y="5120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159752" y="55321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Boot가 Slack·이메일로 즉시 발송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08592" y="513892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9308592" y="51252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747504" y="5120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9308592" y="55321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ClickHouse → API → React 화면 출력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기술 설명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OSquery · Zeek 기반 실시간 로그 수집 및 Kafka 전달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01952"/>
            <a:ext cx="3136392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01952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OSquery</a:t>
            </a:r>
            <a:endParaRPr lang="en-US" sz="17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내부 수집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30815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Meta에서 만든 보안·모니터링 프로그램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내부·네트워크 행동을 수집, Kafka 전달까지 수행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보안 문법 없이 SQL 문법으로 조회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Windows·Mac 등 멀티플랫폼 지원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RAM · CPU · 네트워크 정보 탐색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06824" y="164592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901952"/>
            <a:ext cx="3136392" cy="777240"/>
          </a:xfrm>
          <a:prstGeom prst="roundRect">
            <a:avLst>
              <a:gd name="adj" fmla="val 7059"/>
            </a:avLst>
          </a:prstGeom>
          <a:solidFill>
            <a:srgbClr val="2A3A8C"/>
          </a:solidFill>
          <a:ln/>
        </p:spPr>
      </p:sp>
      <p:sp>
        <p:nvSpPr>
          <p:cNvPr id="10" name="Text 8"/>
          <p:cNvSpPr/>
          <p:nvPr/>
        </p:nvSpPr>
        <p:spPr>
          <a:xfrm>
            <a:off x="4535424" y="1901952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Zeek</a:t>
            </a:r>
            <a:endParaRPr lang="en-US" sz="17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수집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62856" y="2880360"/>
            <a:ext cx="30815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트래픽 전용 모니터링 도구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OSquery가 PC 내부를 본다면, Zeek은 네트워크 행동을 실시간 기록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DNS · 트래픽 등 네트워크 이상 징후 데이터 확보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5008" y="164592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93608" y="1901952"/>
            <a:ext cx="3136392" cy="777240"/>
          </a:xfrm>
          <a:prstGeom prst="roundRect">
            <a:avLst>
              <a:gd name="adj" fmla="val 7059"/>
            </a:avLst>
          </a:prstGeom>
          <a:solidFill>
            <a:srgbClr val="D8862B"/>
          </a:solidFill>
          <a:ln/>
        </p:spPr>
      </p:sp>
      <p:sp>
        <p:nvSpPr>
          <p:cNvPr id="14" name="Text 12"/>
          <p:cNvSpPr/>
          <p:nvPr/>
        </p:nvSpPr>
        <p:spPr>
          <a:xfrm>
            <a:off x="8293608" y="1901952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</a:t>
            </a:r>
            <a:endParaRPr lang="en-US" sz="17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메시지 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880360"/>
            <a:ext cx="30815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수집된 로그가 모이는 events 토픽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로그를 Kafka Streams(탐지)와 ClickHouse(저장)에 동시 전달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시간에 쏟아지는 대량 로그를 유실 없이 버퍼링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→ 전달까지 담당하는 ‘데이터 파이프라인의 입구’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기술 설명 2-1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Streams — 길목에서 잡는 실시간 탐지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· 기능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저장 전, 흘러가는 길목(메모리)에서 실시간 검사·가공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필터링 : 원시 로그에서 위협 패턴만 즉시 선별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 연산 : “최근 5초 동안 50번 이상 실패했는가?” 같은 시간 범위 집계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가공된 이상 데이터만 alerts 토픽으로 전달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55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사용하는가?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212848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초고속 반응 : 사건 발생 즉시 0.1초 내외로 Slack 알림 가능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간편함 : Spark·Flink 같은 분석 서버 없이 Spring Boot 코드 몇 줄로 동작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부하 감소 : 이상 감지를 메모리에서 처리 → DB 과부하 방지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방식 vs Kafka Streams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DF0F0"/>
          </a:solidFill>
          <a:ln w="12700">
            <a:solidFill>
              <a:srgbClr val="F3D2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864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방식 (저장 후 조회)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5230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일단 DB에 저장 → 1분마다 DB를 뒤져 확인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저장·조회에 시간이 걸려 실시간 대응 불가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47091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DF7F1"/>
          </a:solidFill>
          <a:ln w="12700">
            <a:solidFill>
              <a:srgbClr val="CBE7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864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Streams (길목 검사)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5230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지나가는 순간 즉시 검사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DB에 들어가기 전에 이상 데이터 즉시 알림(Slack)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기술 설명 2-2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ClickHouse — 대용량 로그의 기록 창고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— 왜 빠른가?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원본 로그를 저장하고 빨리 찾아주는 대용량 창고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행이 아닌 열(칼럼) 단위 저장 → 필요한 항목만 읽어 통계·집계가 매우 빠름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Topic을 직접 구독해 자동 수집하는 연동 기능 내장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55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사용하는가?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212848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OSquery·Zeek는 짧은 시간에도 대량 로그를 쏟아냄 → 빠른 대량 저장 필요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Streams는 판단 후 데이터를 버림 → 기록 창고 필요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대시보드 그래프를 일반 DB보다 훨씬 빠르게 계산·제공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시 핵심 포인트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5F8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5537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 BY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4919472"/>
            <a:ext cx="1819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검색하는 조건(호스트, 시간)으로 정렬 키 지정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88920" y="438912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5F8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3512" y="45537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PARTITION BY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53512" y="4919472"/>
            <a:ext cx="1819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날짜별로 나눠 저장 → 오래된 데이터 통째로 삭제 용이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438912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5F8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45537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93792" y="4919472"/>
            <a:ext cx="1819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“90일 후 자동 삭제” — 로그 무한 적재 방지 필수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69480" y="438912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5F8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072" y="45537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 규칙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34072" y="4919472"/>
            <a:ext cx="1819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건씩 X, 1000건씩 몰아서 넣기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509760" y="438912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5F8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74352" y="45537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74352" y="4919472"/>
            <a:ext cx="1819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수정·삭제·JOIN·단건 조회에 약함 → 로그는 쌓기 전용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기술 설명 3-1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· Slack 알림 연동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93592" cy="3108960"/>
          </a:xfrm>
          <a:prstGeom prst="roundRect">
            <a:avLst>
              <a:gd name="adj" fmla="val 2353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019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882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84708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Incoming Webhook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61872" y="221284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노출용 단방향 통로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3136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인증(OAuth) 없이 Slack 채널과 1:1 매핑된 고유 URL 발급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일종의 ‘비밀 우체통’ 주소 — 규격에 맞는 데이터를 넣으면 채널에 자동 표시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42232" y="3200400"/>
            <a:ext cx="164592" cy="0"/>
          </a:xfrm>
          <a:prstGeom prst="line">
            <a:avLst/>
          </a:prstGeom>
          <a:noFill/>
          <a:ln w="28575">
            <a:solidFill>
              <a:srgbClr val="2A3A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06824" y="1645920"/>
            <a:ext cx="3593592" cy="3108960"/>
          </a:xfrm>
          <a:prstGeom prst="roundRect">
            <a:avLst>
              <a:gd name="adj" fmla="val 2353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5424" y="19019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18882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0056" y="184708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페이로드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0056" y="221284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규격화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35424" y="2651760"/>
            <a:ext cx="3136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Slack은 지정된 JSON 형식만 인식 — 기본형 {"text": "보낼 내용"}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버튼·굵은 글씨·색상 띠 등 꾸미기는 Block Kit JSON 구조 사용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00416" y="3200400"/>
            <a:ext cx="164592" cy="0"/>
          </a:xfrm>
          <a:prstGeom prst="line">
            <a:avLst/>
          </a:prstGeom>
          <a:noFill/>
          <a:ln w="28575">
            <a:solidFill>
              <a:srgbClr val="2A3A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65008" y="1645920"/>
            <a:ext cx="3593592" cy="3108960"/>
          </a:xfrm>
          <a:prstGeom prst="roundRect">
            <a:avLst>
              <a:gd name="adj" fmla="val 2353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90195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93608" y="18882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0" y="184708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WebClient POST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78240" y="221284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발송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93608" y="2651760"/>
            <a:ext cx="3136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 탐지 등 이벤트 발생 시 내장 HTTP 클라이언트로 요청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비동기·논블로킹 WebClient로 Webhook URL에 JSON을 담아 POST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230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55961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발생   →   Spring Boot에서 JSON 조립   →   WebClient로 Webhook URL에 POST   →   Slack 채널에 알림 표시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기술 설명 3-2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대시보드 실시간 시연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8256C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ClickHouse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로그·통계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2121408"/>
            <a:ext cx="594360" cy="0"/>
          </a:xfrm>
          <a:prstGeom prst="line">
            <a:avLst/>
          </a:prstGeom>
          <a:noFill/>
          <a:ln w="28575">
            <a:solidFill>
              <a:srgbClr val="2A3A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20440" y="16916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D8862B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API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요청 규격으로 반환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21408"/>
            <a:ext cx="594360" cy="0"/>
          </a:xfrm>
          <a:prstGeom prst="line">
            <a:avLst/>
          </a:prstGeom>
          <a:noFill/>
          <a:ln w="28575">
            <a:solidFill>
              <a:srgbClr val="2A3A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66560" y="16916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출력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72600" y="1691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ClickHouse의 빠른 집계 덕분에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로그도 실시간에 가깝게 시각화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EEF4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9992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화면 구성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4015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추이 그래프 (시간대별 탐지 건수)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이벤트 목록 및 상세 정보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원본 로그 조회·검색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8346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EDF7F1"/>
          </a:solidFill>
          <a:ln w="12700">
            <a:solidFill>
              <a:srgbClr val="CBE7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9992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시연 시나리오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4015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행동 발생 → Slack 알림 수신 → 대시보드 상세 확인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수집부터 시각화까지 전체 흐름을 한 번에 시연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 대비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3593592" cy="1325880"/>
          </a:xfrm>
          <a:prstGeom prst="roundRect">
            <a:avLst>
              <a:gd name="adj" fmla="val 5517"/>
            </a:avLst>
          </a:prstGeom>
          <a:solidFill>
            <a:srgbClr val="F5F8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2669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Kafka·Streams를 쓴 이유?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9808" y="5779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실시간성(0.1초 내 알림) · 서버 부하 감소 · 구축 간편성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06824" y="5120640"/>
            <a:ext cx="3593592" cy="1325880"/>
          </a:xfrm>
          <a:prstGeom prst="roundRect">
            <a:avLst>
              <a:gd name="adj" fmla="val 5517"/>
            </a:avLst>
          </a:prstGeom>
          <a:solidFill>
            <a:srgbClr val="F5F8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52669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ClickHouse가 꼭 필요한가?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07992" y="5779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 로그의 빠른 저장·집계 + Streams가 버린 기록의 보관 창고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65008" y="5120640"/>
            <a:ext cx="3593592" cy="1325880"/>
          </a:xfrm>
          <a:prstGeom prst="roundRect">
            <a:avLst>
              <a:gd name="adj" fmla="val 5517"/>
            </a:avLst>
          </a:prstGeom>
          <a:solidFill>
            <a:srgbClr val="F5F8FE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52669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3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Slack 메시지는 어떻게?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66176" y="5779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B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Incoming Webhook + JSON 페이로드 + WebClient POST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4572000" cy="4572000"/>
          </a:xfrm>
          <a:prstGeom prst="ellipse">
            <a:avLst/>
          </a:prstGeom>
          <a:ln w="19050">
            <a:solidFill>
              <a:srgbClr val="2A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향후 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기간, 이렇게 완성합니다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2A3A8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E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퍼블리싱 — 레퍼런스 기반 React 대시보드 화면 구현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E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— Spring Boot API · Kafka Streams 탐지 규칙 · Slack 알림 모듈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2A3A8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3957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&amp; 운영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E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배포 — Kafka · ClickHouse · Spring Boot · 프론트엔드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E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— 배포 환경 파이프라인 동작 모니터링 및 안정화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532120" y="3154680"/>
            <a:ext cx="777240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01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목표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로그 수집  →  탐지  →  Slack 알림  →  대시보드 시각화까지, 전체 파이프라인 실시간 시연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2026-07-21T07:10:40Z</dcterms:created>
  <dcterms:modified xsi:type="dcterms:W3CDTF">2026-07-21T07:10:40Z</dcterms:modified>
</cp:coreProperties>
</file>